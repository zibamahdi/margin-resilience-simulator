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2516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talking points:
1. Frame the dual shock: BDT has depreciated 43.5% since 2019; palm oil hit +106% above trough at the 2022 peak.
2. These shocks don't arrive separately — the March 2022 supercycle coincided with early BDT weakness, creating a compounding effect on import-intensive COGS.
3. The methodology mirrors transmission analysis — same logic used at bKash for macro systemic risk, now applied to unit economics.
4. HUL is the right proxy: same Unilever portfolio, same commodity exposure, far more disclosed cost detail than ULBD public filings.
5. This tool answers the commercial finance team's question: 'If palm goes up X% and BDT depreciates Y%, what price increase do I need to defend my GM target?'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talking points:
1. Lead with the Bar Soap finding — it's the most actionable and will anchor the discussion.
2. The 50% pass-through recommendation is not a compromise — it's the commercially optimised position. Full pass-through on all SKUs simultaneously creates channel conflict and volume risk.
3. The non-linearity point (finding 4) is the analytical insight: finance teams typically model commodity and FX shocks in isolation. This tool models them simultaneously, which is how they actually arrive.
4. For the hedging recommendation: the +30% palm scenario (worst case modelled) corresponds to a return toward the April 2022 level. That's a plausible tail — not an extreme.
5. The monthly refresh cadence is the key operational ask — this is a living tool, not a one-time analysis.
6. If challenged on the HUL proxy: the rationale is structural, not aspirational — same Unilever portfolio taxonomy, same commodity input set, better disclosure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41148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01168" y="217627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4ED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Pricing Responses to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4ED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BDT Devaluation &amp; Input Cost Inflation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3017520"/>
            <a:ext cx="2377440" cy="274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31089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8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D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 Annual Reports (NSE/BSE)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D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Bank Pink Sheet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ED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Bank FX Series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520440" y="25603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&amp; ANALYTICAL FRAMEWORK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20440" y="548640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dual shock problem facing Bangladesh FMCG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520440" y="1024128"/>
            <a:ext cx="1783080" cy="1115568"/>
          </a:xfrm>
          <a:prstGeom prst="roundRect">
            <a:avLst>
              <a:gd name="adj" fmla="val 4918"/>
            </a:avLst>
          </a:prstGeom>
          <a:solidFill>
            <a:srgbClr val="F2F4F6"/>
          </a:solidFill>
          <a:ln w="6350">
            <a:solidFill>
              <a:srgbClr val="C8CDD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93592" y="106070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93592" y="152704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BDT cumulative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depreciation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Jan-2019 → Dec-2024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60492" y="1042416"/>
            <a:ext cx="1783080" cy="1115568"/>
          </a:xfrm>
          <a:prstGeom prst="roundRect">
            <a:avLst>
              <a:gd name="adj" fmla="val 4918"/>
            </a:avLst>
          </a:prstGeom>
          <a:solidFill>
            <a:srgbClr val="F2F4F6"/>
          </a:solidFill>
          <a:ln w="6350">
            <a:solidFill>
              <a:srgbClr val="C8CDD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75732" y="10698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29072" y="15361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 oil price surge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2022 peak vs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trough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340092" y="1056132"/>
            <a:ext cx="1783080" cy="1115568"/>
          </a:xfrm>
          <a:prstGeom prst="roundRect">
            <a:avLst>
              <a:gd name="adj" fmla="val 4918"/>
            </a:avLst>
          </a:prstGeom>
          <a:solidFill>
            <a:srgbClr val="F2F4F6"/>
          </a:solidFill>
          <a:ln w="6350">
            <a:solidFill>
              <a:srgbClr val="C8CDD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0544" y="1119293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SKUs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80732" y="154533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modelled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premium BPC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domestic HPC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20440" y="226771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Methodology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20440" y="2596896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596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77640" y="2578608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COGS Decomposition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77640" y="2770632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 segment financials (FY2020–24) as structural proxy. Commodity exposure weights calibrated across 5 SKUs: palm oil, petrochemicals, packaging, fragrance/actives, domestic inputs.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20440" y="3273552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273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77640" y="3255264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Engine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77640" y="344728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2-D matrix: palm oil shock (−20% to +50%) × BDT/USD depreciation (0% to +30%). Gross margin impact modelled under zero, 50%, and full pass-through for each SKU.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520440" y="3950208"/>
            <a:ext cx="365760" cy="3657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3950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77640" y="3931920"/>
            <a:ext cx="4892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Dashboard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77640" y="4123944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margin waterfall by shock source. Live scenario matrix with sliders. Required retail price increase to defend target gross margin — in real time.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520440" y="4864608"/>
            <a:ext cx="5394960" cy="201168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4882896"/>
            <a:ext cx="5303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benchmarked against HUL disclosed cost architecture | Proxy rationale: Unilever Bangladesh finance teams internally benchmarked vs HUL segment economics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STRATEGIC PRICING IMPLICATIONS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Resilience Simulator — Management Committee Findings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06240" cy="1417320"/>
          </a:xfrm>
          <a:prstGeom prst="roundRect">
            <a:avLst>
              <a:gd name="adj" fmla="val 4516"/>
            </a:avLst>
          </a:prstGeom>
          <a:solidFill>
            <a:srgbClr val="F2F4F6"/>
          </a:solidFill>
          <a:ln w="6350">
            <a:solidFill>
              <a:srgbClr val="C8CDD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" y="1152144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152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0" y="1152144"/>
            <a:ext cx="694944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152144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SKU-03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41248" y="11338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Soap: Highest Margin at Risk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" y="1463040"/>
            <a:ext cx="3913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Palm +30% / BDT −10%: GM collapses from 40% → 21% with zero pass-through. Required price increase of 47% to fully defend — the highest of the 5-SKU portfolio. Palm exposure (42% of COGS) drives most of the vulnerability.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1024128"/>
            <a:ext cx="4206240" cy="1417320"/>
          </a:xfrm>
          <a:prstGeom prst="roundRect">
            <a:avLst>
              <a:gd name="adj" fmla="val 4516"/>
            </a:avLst>
          </a:prstGeom>
          <a:solidFill>
            <a:srgbClr val="F2F4F6"/>
          </a:solidFill>
          <a:ln w="6350">
            <a:solidFill>
              <a:srgbClr val="C8CDD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55464" y="1152144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11521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1152144"/>
            <a:ext cx="694944" cy="201168"/>
          </a:xfrm>
          <a:prstGeom prst="roundRect">
            <a:avLst>
              <a:gd name="adj" fmla="val 18182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1152144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SKU-05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276088" y="11338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Wash: Most Resilient SKU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55464" y="1463040"/>
            <a:ext cx="3913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import intensity (28%) and palm exposure (22%) means GM erosion is 10pp vs 19pp for Bar Soap under the same shock. Domestic soda ash/NaOH inputs provide a natural hedge. Only 30% price increase required for full pass-through.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633472"/>
            <a:ext cx="4206240" cy="1417320"/>
          </a:xfrm>
          <a:prstGeom prst="roundRect">
            <a:avLst>
              <a:gd name="adj" fmla="val 4516"/>
            </a:avLst>
          </a:prstGeom>
          <a:solidFill>
            <a:srgbClr val="F2F4F6"/>
          </a:solidFill>
          <a:ln w="6350">
            <a:solidFill>
              <a:srgbClr val="C8CDD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0624" y="2761488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2761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⊕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0" y="2761488"/>
            <a:ext cx="694944" cy="201168"/>
          </a:xfrm>
          <a:prstGeom prst="roundRect">
            <a:avLst>
              <a:gd name="adj" fmla="val 18182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761488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SKUs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41248" y="274320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Pass-Through: The Viable Middle Path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0624" y="3072384"/>
            <a:ext cx="3913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5 SKUs, a 50% pass-through under base shock (Palm +30%, FX +10%) keeps all GMs above 29% — above the 30% management floor for 4 of 5 SKUs. Full pass-through on Bar Soap specifically is required to avoid floor breach.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633472"/>
            <a:ext cx="4206240" cy="1417320"/>
          </a:xfrm>
          <a:prstGeom prst="roundRect">
            <a:avLst>
              <a:gd name="adj" fmla="val 4516"/>
            </a:avLst>
          </a:prstGeom>
          <a:solidFill>
            <a:srgbClr val="F2F4F6"/>
          </a:solidFill>
          <a:ln w="6350">
            <a:solidFill>
              <a:srgbClr val="C8CDD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55464" y="2761488"/>
            <a:ext cx="329184" cy="329184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55464" y="2761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⬡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92440" y="2761488"/>
            <a:ext cx="694944" cy="201168"/>
          </a:xfrm>
          <a:prstGeom prst="roundRect">
            <a:avLst>
              <a:gd name="adj" fmla="val 18182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2761488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276088" y="274320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 Sequencing Matters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55464" y="3072384"/>
            <a:ext cx="3913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depreciation amplifies palm exposure non-linearly: a +20% BDT depreciation on top of Palm +30% increases the required price move by 8–12pp vs FX-only shock. Premium BPC (SKU-01) has the highest absolute COGS exposure (USD 72%) but retains the largest GM buffer for absorption.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160520"/>
            <a:ext cx="8595360" cy="21945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16966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4425696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Implement full pass-through on Bar Soap (SKU-03) immediately — it is the only SKU where 50% pass-through breaches the 30% GM floor under the base shock scenario.     2  Apply 50% pass-through across SKU-01, SKU-02, SKU-04 — preserves competitive positioning while protecting margins above floor in all modelled scenarios.     3  Hedge palm oil exposure via 90-day forward contracts on the highest-intensity SKUs (03, 04) ahead of monsoon season demand uptick.     4  Run this simulator monthly: re-anchor the palm price and BDT/USD inputs to latest actuals to dynamically recalibrate required price actions.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992624"/>
            <a:ext cx="8778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912</Words>
  <Application>Microsoft Macintosh PowerPoint</Application>
  <PresentationFormat>On-screen Show (16:9)</PresentationFormat>
  <Paragraphs>59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Margin Resilience Simulator — Strategic Pricing Responses to BDT Devaluation and Input Cost Inflation</dc:title>
  <dc:subject>FMCG Input Cost Pass-Through Analysis</dc:subject>
  <dc:creator>Commercial Finance</dc:creator>
  <cp:lastModifiedBy>Ziba Mahdi</cp:lastModifiedBy>
  <cp:revision>2</cp:revision>
  <dcterms:created xsi:type="dcterms:W3CDTF">2026-06-25T07:55:59Z</dcterms:created>
  <dcterms:modified xsi:type="dcterms:W3CDTF">2026-06-25T21:58:03Z</dcterms:modified>
</cp:coreProperties>
</file>